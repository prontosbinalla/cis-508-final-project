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16"/>
  </p:normalViewPr>
  <p:slideViewPr>
    <p:cSldViewPr snapToGrid="0">
      <p:cViewPr varScale="1">
        <p:scale>
          <a:sx n="125" d="100"/>
          <a:sy n="125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1D52D-C78A-544C-9E2F-0B9DF041C237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327DE-132E-D944-B23E-47B381D2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327DE-132E-D944-B23E-47B381D28D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9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6BD9-996F-CB63-4478-C9A624B12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CA590-2D67-F1E8-D362-AAABC5E43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5D538-9C4B-1BC1-278E-76E7D8EC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99B2F-8AB8-D136-1994-72641879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ECC8-7317-2D50-84F1-CB8DEF7C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9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74BA-5E0D-A9D1-2894-B253191C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4D24-9E93-3E1B-5104-5AE260C30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AF3DB-48A7-BC24-5FA8-53BA6970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95008-831A-13B3-2993-1C79605A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41413-90CA-2622-B99E-D6876731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7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AD46-2CAF-0A3A-F5E8-F17FB4A7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EA352-3567-A7CB-837E-1D9786ABE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D69D-6AB7-A18A-E923-9546BBE3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CB5FF-D341-480C-A9C1-E285C6FE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D8817-E007-E6BE-2BA6-C0EA5CB8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0E95-4ABE-6ECF-C9F8-E4A74811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901D-B661-8082-C329-53CF4D205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38547-297B-B1F2-383E-C78B7736D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DB037-100F-C51C-0EBE-EE5E585F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EAD26-9DED-7D15-EC55-1E28E375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A7346-B066-2185-A7A7-BC02373A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7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1C64-B86E-BCBF-13EE-53DCD1EF9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93AA1-0CC5-2791-30C0-96B6FE070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E5ED8-CA27-273E-B603-5F1352C67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37EED-9AD4-B8E4-506C-C72C52DCE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03F66-199C-7E55-4085-EE8B1D51A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437EFB-0A97-D314-14F3-2BDD81E1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7190E0-779E-38A9-6A83-EAB58EA4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E88AD-E42F-313D-A3FB-F411126C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8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B342-2465-3CB5-6D63-F17E0AAA7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AFD75-2F26-C2E6-33AA-58A7EAE0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05D09-0D0C-DBCA-904A-721AE4C2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A5872-514B-F1A5-2226-362894D4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52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2DF57-2F55-3242-7776-DD32B614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7CA36-2200-494D-7527-A0B58113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34E89-AD02-E722-3C53-36C80C38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1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BE62-0A3D-15BA-93AF-E16552EE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5D915-DC64-1BFE-D07D-9928E40D5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D8C3A-B610-4C03-0DD0-3315657B2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C9524-5BD8-5583-0108-C96436C5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08F80-34AA-E68C-E370-98901A35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DBF2E-2DC0-A520-FBE1-04E9D6BE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3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B245-93CE-7571-5EC6-93A18F5A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2F570-3E96-84E9-BBDC-74E55E4D5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88857-3D7A-9210-38DA-BA6A791E2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9FE60-0411-56EE-19DF-4EEA30D4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038EC-51F2-4E37-1ABE-AA9F4FC4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CCDE5-6A6D-9CD6-EBEE-736837CD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7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348D-6BD6-558D-CF4C-297E2B41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D9812-08AD-40E6-F7F8-AD07E858E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FA5FF-022E-ED39-AF89-3E3DAF6E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A346A-5F2E-8BF2-5941-580D899C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EA089-C0D8-157E-AABB-094F41DA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783B2-27BD-4298-31AC-B3A2ED54E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AFC9F-9E43-1323-F2C7-B2CF5B5A7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40418-6A4F-CBEA-2DD5-E9F11E07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6E16B-D862-6B02-AFFD-5F4236E4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5AE80-8778-D5D9-8519-DB875B0D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6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2D8F8-2CEA-1705-56DA-7FFFF201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3FE06-2EC2-B9AC-F9B1-D14090408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39574-E99F-918C-4DD0-5E67448C8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3B113-B8A5-914E-A3B0-0A85A97CFD35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10D50-687B-1D0C-47CA-5F3EB261A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F56F-5F9E-9CAA-0F2A-053555395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15306-32ED-8841-9330-AC62FF8D1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7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rllrb/uber-and-lyft-dataset-boston-m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eshachsamuel-cis508-finalproject.streamlit.app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shachsamuel-cis508-finalproject.streamlit.app/" TargetMode="External"/><Relationship Id="rId2" Type="http://schemas.openxmlformats.org/officeDocument/2006/relationships/hyperlink" Target="https://github.com/ProntoSbinalla/CIS-508-Final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Uber and Lyft are offering free rides to the polls on election day - Fast  Company">
            <a:extLst>
              <a:ext uri="{FF2B5EF4-FFF2-40B4-BE49-F238E27FC236}">
                <a16:creationId xmlns:a16="http://schemas.microsoft.com/office/drawing/2014/main" id="{AEAAE6FB-AE65-BA16-1EE0-2AD5DB8BC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9091"/>
          <a:stretch>
            <a:fillRect/>
          </a:stretch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08367-BD27-5169-D2C8-741146C45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5100" b="1" dirty="0">
                <a:solidFill>
                  <a:schemeClr val="bg1"/>
                </a:solidFill>
              </a:rPr>
              <a:t>Rideshare Price Prediction in Boston using Machine Learning</a:t>
            </a:r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C7124-F53C-3D21-AA8D-2BC97DE9F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CIS 508: Final Project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Meshach Samuel</a:t>
            </a:r>
          </a:p>
        </p:txBody>
      </p:sp>
    </p:spTree>
    <p:extLst>
      <p:ext uri="{BB962C8B-B14F-4D97-AF65-F5344CB8AC3E}">
        <p14:creationId xmlns:p14="http://schemas.microsoft.com/office/powerpoint/2010/main" val="1416204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3E90-DC88-E46C-1821-8FFBA4B8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 &amp; Stakeholders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3EFD7E-D2AD-6D3A-8B41-3073C6C60F2C}"/>
              </a:ext>
            </a:extLst>
          </p:cNvPr>
          <p:cNvSpPr txBox="1">
            <a:spLocks/>
          </p:cNvSpPr>
          <p:nvPr/>
        </p:nvSpPr>
        <p:spPr>
          <a:xfrm>
            <a:off x="4645360" y="1825624"/>
            <a:ext cx="3601720" cy="32543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Stakeholders</a:t>
            </a:r>
            <a:br>
              <a:rPr lang="en-US" b="1" dirty="0"/>
            </a:br>
            <a:endParaRPr lang="en-US" b="1" dirty="0"/>
          </a:p>
          <a:p>
            <a:r>
              <a:rPr lang="en-US" sz="2400" b="1" dirty="0"/>
              <a:t>Riders</a:t>
            </a:r>
            <a:r>
              <a:rPr lang="en-US" sz="2400" dirty="0"/>
              <a:t> (Plan Trips, Compare Prices)</a:t>
            </a:r>
          </a:p>
          <a:p>
            <a:r>
              <a:rPr lang="en-US" sz="2400" b="1" dirty="0"/>
              <a:t>Drivers</a:t>
            </a:r>
            <a:r>
              <a:rPr lang="en-US" sz="2400" dirty="0"/>
              <a:t> (Understand when Trips are More Profitable</a:t>
            </a:r>
          </a:p>
          <a:p>
            <a:r>
              <a:rPr lang="en-US" sz="2400" b="1" dirty="0"/>
              <a:t>Platform </a:t>
            </a:r>
            <a:r>
              <a:rPr lang="en-US" sz="2400" dirty="0"/>
              <a:t>(Pricing Transparency)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BC5450-D224-EFD9-0079-777EF50851AF}"/>
              </a:ext>
            </a:extLst>
          </p:cNvPr>
          <p:cNvSpPr txBox="1">
            <a:spLocks/>
          </p:cNvSpPr>
          <p:nvPr/>
        </p:nvSpPr>
        <p:spPr>
          <a:xfrm>
            <a:off x="7969249" y="1825622"/>
            <a:ext cx="3601720" cy="3254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ML Task</a:t>
            </a:r>
            <a:br>
              <a:rPr lang="en-US" b="1" dirty="0"/>
            </a:br>
            <a:endParaRPr lang="en-US" b="1" dirty="0"/>
          </a:p>
          <a:p>
            <a:r>
              <a:rPr lang="en-US" sz="2400" dirty="0"/>
              <a:t>Target = Price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Supervised Regression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990CB-C3A9-3148-FA8C-54522CAC52F4}"/>
              </a:ext>
            </a:extLst>
          </p:cNvPr>
          <p:cNvSpPr txBox="1">
            <a:spLocks/>
          </p:cNvSpPr>
          <p:nvPr/>
        </p:nvSpPr>
        <p:spPr>
          <a:xfrm>
            <a:off x="838200" y="52073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b="1" dirty="0"/>
              <a:t>Given a Rider’s Pickup Details, Can we Predict the Ride Price?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12FAC8-32AC-8676-644B-A2B96EDEBA4E}"/>
              </a:ext>
            </a:extLst>
          </p:cNvPr>
          <p:cNvSpPr txBox="1">
            <a:spLocks/>
          </p:cNvSpPr>
          <p:nvPr/>
        </p:nvSpPr>
        <p:spPr>
          <a:xfrm>
            <a:off x="838200" y="1801814"/>
            <a:ext cx="3601720" cy="32543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Business Context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Rideshare prices fluctuate with distance, demand and weather, which makes it hard for riders to anticipate cost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969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0065C-0BD2-7C48-73EE-1FF25E06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b="1"/>
              <a:t>Dataset Overview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A054FE-7F1F-8296-92BB-493D3E116E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Kaggle “Uber and Lyft Dataset Boston, MA”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400" b="1" dirty="0"/>
              <a:t>693071 </a:t>
            </a:r>
            <a:r>
              <a:rPr lang="en-US" sz="2400" dirty="0"/>
              <a:t>Rows, </a:t>
            </a:r>
            <a:r>
              <a:rPr lang="en-US" sz="2400" b="1" dirty="0"/>
              <a:t>57 </a:t>
            </a:r>
            <a:r>
              <a:rPr lang="en-US" sz="2400" dirty="0"/>
              <a:t>Columns</a:t>
            </a:r>
            <a:br>
              <a:rPr lang="en-US" sz="2400" dirty="0"/>
            </a:br>
            <a:endParaRPr lang="en-US" sz="24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b="1" dirty="0"/>
              <a:t>Target: </a:t>
            </a:r>
            <a:r>
              <a:rPr lang="en-US" altLang="en-US" sz="2400" dirty="0"/>
              <a:t>price</a:t>
            </a:r>
            <a:br>
              <a:rPr lang="en-US" altLang="en-US" sz="2400" dirty="0"/>
            </a:br>
            <a:endParaRPr lang="en-US" altLang="en-US" sz="24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b="1" dirty="0"/>
              <a:t>Key Features: </a:t>
            </a:r>
            <a:r>
              <a:rPr lang="en-US" altLang="en-US" sz="2400" dirty="0"/>
              <a:t>hour, day, month, distance, name, </a:t>
            </a:r>
            <a:r>
              <a:rPr lang="en-US" altLang="en-US" sz="2400" dirty="0" err="1"/>
              <a:t>cab_type</a:t>
            </a:r>
            <a:r>
              <a:rPr lang="en-US" altLang="en-US" sz="2400" dirty="0"/>
              <a:t>, source, destination, etc.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286C40-B91D-8686-B796-B6A7602B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888" y="407975"/>
            <a:ext cx="7382256" cy="479846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62247DF-C9BA-791A-46C3-E8431C31F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888" y="5614415"/>
            <a:ext cx="7382256" cy="8356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hlinkClick r:id="rId3"/>
              </a:rPr>
              <a:t>https://www.kaggle.com/datasets/brllrb/uber-and-lyft-dataset-boston-ma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3772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A6011-5FC3-6961-03ED-1D7C4B6D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Data Quality and Checks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3EE3-599D-B458-FCA5-3402EF3EC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504819"/>
            <a:ext cx="7403593" cy="3988056"/>
          </a:xfrm>
        </p:spPr>
        <p:txBody>
          <a:bodyPr>
            <a:noAutofit/>
          </a:bodyPr>
          <a:lstStyle/>
          <a:p>
            <a:r>
              <a:rPr lang="en-US" sz="2100" dirty="0"/>
              <a:t>Loaded Data with Pandas and inspected Summary Statistics</a:t>
            </a:r>
          </a:p>
          <a:p>
            <a:pPr lvl="1"/>
            <a:r>
              <a:rPr lang="en-US" sz="2100" dirty="0"/>
              <a:t>Missing Values – 55K</a:t>
            </a:r>
          </a:p>
          <a:p>
            <a:pPr lvl="1"/>
            <a:r>
              <a:rPr lang="en-US" sz="2100" dirty="0"/>
              <a:t>Duplicate Rows - None</a:t>
            </a:r>
          </a:p>
          <a:p>
            <a:pPr lvl="1"/>
            <a:r>
              <a:rPr lang="en-US" sz="2100" dirty="0"/>
              <a:t>Removed Unnecessary Columns: id, icon, </a:t>
            </a:r>
            <a:r>
              <a:rPr lang="en-US" sz="2100" dirty="0" err="1"/>
              <a:t>timezone</a:t>
            </a:r>
            <a:r>
              <a:rPr lang="en-US" sz="2100" dirty="0"/>
              <a:t>, etc.</a:t>
            </a:r>
          </a:p>
          <a:p>
            <a:pPr lvl="1"/>
            <a:r>
              <a:rPr lang="en-US" sz="2100" dirty="0"/>
              <a:t>Removed Outliers</a:t>
            </a:r>
            <a:br>
              <a:rPr lang="en-US" sz="2100" dirty="0"/>
            </a:br>
            <a:endParaRPr lang="en-US" sz="2100" dirty="0"/>
          </a:p>
          <a:p>
            <a:r>
              <a:rPr lang="en-US" sz="2100" dirty="0"/>
              <a:t>Only Price Column had Null Values</a:t>
            </a:r>
            <a:br>
              <a:rPr lang="en-US" sz="2100" dirty="0"/>
            </a:br>
            <a:endParaRPr lang="en-US" sz="2100" dirty="0"/>
          </a:p>
          <a:p>
            <a:r>
              <a:rPr lang="en-US" sz="2100" dirty="0"/>
              <a:t>55K Rows with Null Values from 690K Rows. 55/690 = &lt; 8% Easiest to Remove All Rows with Null Values</a:t>
            </a:r>
          </a:p>
        </p:txBody>
      </p:sp>
      <p:pic>
        <p:nvPicPr>
          <p:cNvPr id="11" name="Picture 10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313C2CD-0008-5840-E538-2E4B7483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794" y="478531"/>
            <a:ext cx="2722885" cy="56432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780107-2514-AB3D-6A7C-83CAABFFB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554" y="6320815"/>
            <a:ext cx="45212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7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40A4-C6E1-179D-37F2-EC0FDE1B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E30B2-0A2B-3D46-F399-790F0A91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Provided hour, day, month Columns</a:t>
            </a:r>
          </a:p>
          <a:p>
            <a:r>
              <a:rPr lang="en-US" dirty="0"/>
              <a:t>Derived Descriptive Time Features:</a:t>
            </a:r>
          </a:p>
          <a:p>
            <a:pPr lvl="1"/>
            <a:r>
              <a:rPr lang="en-US" dirty="0" err="1"/>
              <a:t>day_name</a:t>
            </a:r>
            <a:r>
              <a:rPr lang="en-US" dirty="0"/>
              <a:t> (Monday-Sunday)</a:t>
            </a:r>
          </a:p>
          <a:p>
            <a:pPr lvl="1"/>
            <a:r>
              <a:rPr lang="en-US" dirty="0" err="1"/>
              <a:t>month_name</a:t>
            </a:r>
            <a:endParaRPr lang="en-US" dirty="0"/>
          </a:p>
          <a:p>
            <a:pPr lvl="1"/>
            <a:r>
              <a:rPr lang="en-US" dirty="0" err="1"/>
              <a:t>is_weekend</a:t>
            </a:r>
            <a:r>
              <a:rPr lang="en-US" dirty="0"/>
              <a:t> flag</a:t>
            </a:r>
          </a:p>
          <a:p>
            <a:pPr lvl="1"/>
            <a:r>
              <a:rPr lang="en-US" dirty="0" err="1"/>
              <a:t>is_peak_hours</a:t>
            </a:r>
            <a:r>
              <a:rPr lang="en-US" dirty="0"/>
              <a:t> flag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CB1989-3083-EBC3-EE50-60AF2F51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918" y="3419475"/>
            <a:ext cx="67183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5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73417-782C-4ADC-80DB-E3478CED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4DADB-58E5-0C6C-3720-F3DED021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 dirty="0"/>
              <a:t>Feature Selection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C0865-2B99-EC90-BACE-B6C47C22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VIF Analysis: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2200" dirty="0"/>
              <a:t>Used Variance Inflation Factor (VIF) to Identify Highly Collinear Numeric Columns</a:t>
            </a:r>
          </a:p>
          <a:p>
            <a:r>
              <a:rPr lang="en-US" sz="2200" dirty="0"/>
              <a:t>Dropped Numeric Columns with very High Correlation: VIF&gt;10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5E8F08-B0FB-A9FB-798D-3F1EE1A94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64965"/>
            <a:ext cx="5458968" cy="552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0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E2841-6D98-9ECA-E80A-5161D4A8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CE59F-C9EE-2F87-F547-428B1654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US" sz="5400" b="1"/>
              <a:t>Feature Selection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B0EF-CBC9-0830-CF49-0F5CC36DC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706872" cy="32689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PCA Analysis: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sz="2400" dirty="0"/>
              <a:t>Performed PCA on standardized numeric columns to understand feature redundancy</a:t>
            </a:r>
          </a:p>
          <a:p>
            <a:r>
              <a:rPr lang="en-US" sz="2400" dirty="0"/>
              <a:t>First few components captured most of the variance</a:t>
            </a:r>
          </a:p>
          <a:p>
            <a:r>
              <a:rPr lang="en-US" sz="2400" dirty="0"/>
              <a:t>Dropped Columns after exceeding 90% Variance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5D7F99-F089-7AC8-76B1-14C46531D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989" y="3609299"/>
            <a:ext cx="3886897" cy="3070647"/>
          </a:xfrm>
          <a:prstGeom prst="rect">
            <a:avLst/>
          </a:prstGeom>
        </p:spPr>
      </p:pic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1799475B-C5FE-AFD4-60AF-BC3BEC937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571" y="680540"/>
            <a:ext cx="4167735" cy="275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2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D4DA5-513B-B601-8762-3919B35E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Feature Selection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8EB4-AB59-8469-1F40-395CEC695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Numeric List:</a:t>
            </a:r>
          </a:p>
          <a:p>
            <a:r>
              <a:rPr lang="en-US" sz="2400" dirty="0"/>
              <a:t>hour</a:t>
            </a:r>
          </a:p>
          <a:p>
            <a:r>
              <a:rPr lang="en-US" sz="2400" dirty="0"/>
              <a:t>distance</a:t>
            </a:r>
          </a:p>
          <a:p>
            <a:r>
              <a:rPr lang="en-US" sz="2400" dirty="0" err="1"/>
              <a:t>precipIntensity</a:t>
            </a:r>
            <a:endParaRPr lang="en-US" sz="2400" dirty="0"/>
          </a:p>
          <a:p>
            <a:r>
              <a:rPr lang="en-US" sz="2400" dirty="0" err="1"/>
              <a:t>windGust</a:t>
            </a:r>
            <a:endParaRPr lang="en-US" sz="2400" dirty="0"/>
          </a:p>
          <a:p>
            <a:r>
              <a:rPr lang="en-US" sz="2400" dirty="0" err="1"/>
              <a:t>windBearing</a:t>
            </a:r>
            <a:endParaRPr lang="en-US" sz="2400" dirty="0"/>
          </a:p>
          <a:p>
            <a:r>
              <a:rPr lang="en-US" sz="2400" dirty="0" err="1"/>
              <a:t>cloudCover</a:t>
            </a:r>
            <a:endParaRPr lang="en-US" sz="2400" dirty="0"/>
          </a:p>
          <a:p>
            <a:r>
              <a:rPr lang="en-US" sz="2400" dirty="0" err="1"/>
              <a:t>uvIndex</a:t>
            </a:r>
            <a:endParaRPr lang="en-US" sz="2400" dirty="0"/>
          </a:p>
          <a:p>
            <a:r>
              <a:rPr lang="en-US" sz="2400" dirty="0" err="1"/>
              <a:t>moonPhase</a:t>
            </a:r>
            <a:endParaRPr lang="en-US" sz="2400" dirty="0"/>
          </a:p>
          <a:p>
            <a:r>
              <a:rPr lang="en-US" sz="2400" dirty="0" err="1"/>
              <a:t>precipIntensityMax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829E67-6D3A-2C22-BF7B-438862B64AC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Categorical List:</a:t>
            </a:r>
          </a:p>
          <a:p>
            <a:r>
              <a:rPr lang="en-US" sz="2400" dirty="0" err="1"/>
              <a:t>cab_type</a:t>
            </a:r>
            <a:endParaRPr lang="en-US" sz="2400" dirty="0"/>
          </a:p>
          <a:p>
            <a:r>
              <a:rPr lang="en-US" sz="2400" dirty="0"/>
              <a:t>name</a:t>
            </a:r>
          </a:p>
          <a:p>
            <a:r>
              <a:rPr lang="en-US" sz="2400" dirty="0"/>
              <a:t>source</a:t>
            </a:r>
          </a:p>
          <a:p>
            <a:r>
              <a:rPr lang="en-US" sz="2400" dirty="0"/>
              <a:t>destination</a:t>
            </a:r>
          </a:p>
          <a:p>
            <a:r>
              <a:rPr lang="en-US" sz="2400" dirty="0" err="1"/>
              <a:t>short_summary</a:t>
            </a:r>
            <a:endParaRPr lang="en-US" sz="2400" dirty="0"/>
          </a:p>
          <a:p>
            <a:r>
              <a:rPr lang="en-US" sz="2400" dirty="0" err="1"/>
              <a:t>day_name</a:t>
            </a:r>
            <a:endParaRPr lang="en-US" sz="2400" dirty="0"/>
          </a:p>
          <a:p>
            <a:r>
              <a:rPr lang="en-US" sz="2400" dirty="0" err="1"/>
              <a:t>month_name</a:t>
            </a:r>
            <a:endParaRPr lang="en-US" sz="2400" dirty="0"/>
          </a:p>
          <a:p>
            <a:r>
              <a:rPr lang="en-US" sz="2400" dirty="0" err="1"/>
              <a:t>is_weekend</a:t>
            </a:r>
            <a:endParaRPr lang="en-US" sz="2400" dirty="0"/>
          </a:p>
          <a:p>
            <a:r>
              <a:rPr lang="en-US" sz="2400" dirty="0" err="1"/>
              <a:t>is_peak_hour</a:t>
            </a:r>
            <a:endParaRPr lang="en-US" sz="2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1613DD0-ED1F-B9DE-9992-ED72622D0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0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FEF8-C6E8-1C37-307A-C9507853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Modelling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82FD-A27E-A804-366D-D77E46F68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Input: </a:t>
            </a:r>
            <a:r>
              <a:rPr lang="en-US" dirty="0"/>
              <a:t>Full feature matrix with numeric and categorical columns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b="1" dirty="0"/>
              <a:t>Pre-Processing:</a:t>
            </a:r>
          </a:p>
          <a:p>
            <a:pPr lvl="1"/>
            <a:r>
              <a:rPr lang="en-US" dirty="0"/>
              <a:t>Numeric Pipeline: </a:t>
            </a:r>
            <a:r>
              <a:rPr lang="en-US" dirty="0" err="1"/>
              <a:t>StandardScaler</a:t>
            </a:r>
            <a:r>
              <a:rPr lang="en-US" dirty="0"/>
              <a:t> for All Numeric Columns</a:t>
            </a:r>
          </a:p>
          <a:p>
            <a:pPr lvl="1"/>
            <a:r>
              <a:rPr lang="en-US" dirty="0"/>
              <a:t>Categorical Pipeline: </a:t>
            </a:r>
            <a:r>
              <a:rPr lang="en-US" dirty="0" err="1"/>
              <a:t>OneHotEncoder</a:t>
            </a:r>
            <a:endParaRPr lang="en-US" dirty="0"/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dirty="0"/>
              <a:t>Each Model wrapped in a Pipeline with the Pre-Processor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dirty="0"/>
              <a:t>Train-Test Split: 80-20 Split with Random State</a:t>
            </a:r>
          </a:p>
        </p:txBody>
      </p:sp>
    </p:spTree>
    <p:extLst>
      <p:ext uri="{BB962C8B-B14F-4D97-AF65-F5344CB8AC3E}">
        <p14:creationId xmlns:p14="http://schemas.microsoft.com/office/powerpoint/2010/main" val="99387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3C46-E713-79E7-6229-1AD8A707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Models: Algorithms and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2C329-1010-62D9-5DD6-E53738427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Models Trained:</a:t>
            </a:r>
          </a:p>
          <a:p>
            <a:r>
              <a:rPr lang="en-US" sz="2000" dirty="0"/>
              <a:t>Linear Regression</a:t>
            </a:r>
          </a:p>
          <a:p>
            <a:r>
              <a:rPr lang="en-US" sz="2000" dirty="0"/>
              <a:t>Decision Tree Regressor</a:t>
            </a:r>
          </a:p>
          <a:p>
            <a:r>
              <a:rPr lang="en-US" sz="2000" dirty="0"/>
              <a:t>Random Forest Regressor</a:t>
            </a:r>
          </a:p>
          <a:p>
            <a:r>
              <a:rPr lang="en-US" sz="2000" dirty="0" err="1"/>
              <a:t>XGBoost</a:t>
            </a:r>
            <a:r>
              <a:rPr lang="en-US" sz="2000" dirty="0"/>
              <a:t> Regressor</a:t>
            </a:r>
          </a:p>
          <a:p>
            <a:r>
              <a:rPr lang="en-US" sz="2000" dirty="0"/>
              <a:t>KNN Regressor</a:t>
            </a:r>
          </a:p>
          <a:p>
            <a:r>
              <a:rPr lang="en-US" sz="2000" dirty="0"/>
              <a:t>Linear SVM</a:t>
            </a:r>
          </a:p>
          <a:p>
            <a:r>
              <a:rPr lang="en-US" sz="2000" dirty="0"/>
              <a:t>Neural Network</a:t>
            </a:r>
          </a:p>
          <a:p>
            <a:r>
              <a:rPr lang="en-US" sz="2000" dirty="0"/>
              <a:t>Ensemble Model - Gradient Boosting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7D0849-FFD2-5D46-1FFB-A578EF966282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Hyper-Parameter Tuning</a:t>
            </a:r>
          </a:p>
          <a:p>
            <a:r>
              <a:rPr lang="en-US" sz="2000" dirty="0"/>
              <a:t>Used </a:t>
            </a:r>
            <a:r>
              <a:rPr lang="en-US" sz="2000" dirty="0" err="1"/>
              <a:t>GridSearchCV</a:t>
            </a:r>
            <a:endParaRPr lang="en-US" sz="2000" dirty="0"/>
          </a:p>
          <a:p>
            <a:r>
              <a:rPr lang="en-US" sz="2000" dirty="0"/>
              <a:t>Each Model had 3 Parameters with 2 Options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27B0EC-4182-B818-390D-6D3A8F716C5B}"/>
              </a:ext>
            </a:extLst>
          </p:cNvPr>
          <p:cNvSpPr txBox="1">
            <a:spLocks/>
          </p:cNvSpPr>
          <p:nvPr/>
        </p:nvSpPr>
        <p:spPr>
          <a:xfrm>
            <a:off x="6096000" y="4001294"/>
            <a:ext cx="52578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Scoring Metric</a:t>
            </a:r>
          </a:p>
          <a:p>
            <a:r>
              <a:rPr lang="en-US" sz="2000" dirty="0"/>
              <a:t>RMSE (Root Mean Squared Error)</a:t>
            </a:r>
          </a:p>
        </p:txBody>
      </p:sp>
    </p:spTree>
    <p:extLst>
      <p:ext uri="{BB962C8B-B14F-4D97-AF65-F5344CB8AC3E}">
        <p14:creationId xmlns:p14="http://schemas.microsoft.com/office/powerpoint/2010/main" val="95790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CD92C-9796-9E3C-E47C-0FF640EB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3584B4-26D2-3DDF-8708-2B28F3EAB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97" y="2540297"/>
            <a:ext cx="11963208" cy="35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8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D27FF-3360-1417-080F-3C657EF4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/>
              <a:t>Feature Importance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D932-C12E-9364-0828-A1223CC8B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3200" dirty="0"/>
              <a:t>Majority of the Important Features are </a:t>
            </a:r>
            <a:r>
              <a:rPr lang="en-US" sz="3200" b="1" dirty="0"/>
              <a:t>Cab Type</a:t>
            </a:r>
          </a:p>
          <a:p>
            <a:r>
              <a:rPr lang="en-US" sz="3200" b="1" dirty="0"/>
              <a:t>Distance</a:t>
            </a:r>
            <a:r>
              <a:rPr lang="en-US" sz="3200" dirty="0"/>
              <a:t> is also an Important Feature</a:t>
            </a:r>
          </a:p>
          <a:p>
            <a:r>
              <a:rPr lang="en-US" sz="3200" b="1" dirty="0"/>
              <a:t>Origin</a:t>
            </a:r>
            <a:r>
              <a:rPr lang="en-US" sz="3200" dirty="0"/>
              <a:t> and </a:t>
            </a:r>
            <a:r>
              <a:rPr lang="en-US" sz="3200" b="1" dirty="0"/>
              <a:t>Destination</a:t>
            </a:r>
            <a:r>
              <a:rPr lang="en-US" sz="3200" dirty="0"/>
              <a:t> of Ride are also Important Features</a:t>
            </a:r>
          </a:p>
        </p:txBody>
      </p:sp>
      <p:pic>
        <p:nvPicPr>
          <p:cNvPr id="4" name="Picture 3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9E6AF369-9DA5-37DC-FEE7-B4B4B5AE4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825" y="1105835"/>
            <a:ext cx="6215826" cy="464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4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250EA-6847-08A5-370E-72241BE6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en-US" sz="5400" b="1"/>
              <a:t>Error Analysis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DC4783-4A61-4110-052B-295A3A309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Autofit/>
          </a:bodyPr>
          <a:lstStyle/>
          <a:p>
            <a:r>
              <a:rPr lang="en-US" sz="1900" dirty="0"/>
              <a:t>Predictions closely follow the perfect fit line, with larger spread on higher priced rides</a:t>
            </a:r>
          </a:p>
          <a:p>
            <a:r>
              <a:rPr lang="en-US" sz="1900" dirty="0"/>
              <a:t>Residuals center around zero with a slight positive tail showing occasional underprediction</a:t>
            </a:r>
          </a:p>
          <a:p>
            <a:r>
              <a:rPr lang="en-US" sz="1900" dirty="0"/>
              <a:t>Residuals match normality in the middle but deviate in the upper tail, confirming heavier positive errors</a:t>
            </a:r>
          </a:p>
          <a:p>
            <a:r>
              <a:rPr lang="en-US" sz="1900" dirty="0"/>
              <a:t>Residual variance increases with predicted price, indicating mild heteroscedasticity</a:t>
            </a:r>
          </a:p>
        </p:txBody>
      </p:sp>
      <p:pic>
        <p:nvPicPr>
          <p:cNvPr id="13" name="Picture 12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1411A9DD-0CC7-5D50-D962-F9435D123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527" y="3527206"/>
            <a:ext cx="3099816" cy="3099816"/>
          </a:xfrm>
          <a:prstGeom prst="rect">
            <a:avLst/>
          </a:prstGeom>
        </p:spPr>
      </p:pic>
      <p:pic>
        <p:nvPicPr>
          <p:cNvPr id="11" name="Picture 10" descr="A graph of a distribution graph&#10;&#10;AI-generated content may be incorrect.">
            <a:extLst>
              <a:ext uri="{FF2B5EF4-FFF2-40B4-BE49-F238E27FC236}">
                <a16:creationId xmlns:a16="http://schemas.microsoft.com/office/drawing/2014/main" id="{FC5BCF9A-00C4-20BA-D594-C60CFB606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339" y="643465"/>
            <a:ext cx="3785616" cy="2507969"/>
          </a:xfrm>
          <a:prstGeom prst="rect">
            <a:avLst/>
          </a:prstGeom>
        </p:spPr>
      </p:pic>
      <p:pic>
        <p:nvPicPr>
          <p:cNvPr id="15" name="Picture 14" descr="A graph of a graph with blue lines&#10;&#10;AI-generated content may be incorrect.">
            <a:extLst>
              <a:ext uri="{FF2B5EF4-FFF2-40B4-BE49-F238E27FC236}">
                <a16:creationId xmlns:a16="http://schemas.microsoft.com/office/drawing/2014/main" id="{71440406-4078-3D5C-291C-2B2C6CBDB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808" y="3651592"/>
            <a:ext cx="3140234" cy="2684901"/>
          </a:xfrm>
          <a:prstGeom prst="rect">
            <a:avLst/>
          </a:prstGeom>
        </p:spPr>
      </p:pic>
      <p:pic>
        <p:nvPicPr>
          <p:cNvPr id="10" name="Picture 9" descr="A graph of blue and black lines&#10;&#10;AI-generated content may be incorrect.">
            <a:extLst>
              <a:ext uri="{FF2B5EF4-FFF2-40B4-BE49-F238E27FC236}">
                <a16:creationId xmlns:a16="http://schemas.microsoft.com/office/drawing/2014/main" id="{A0B47AFB-E50B-10D7-E1E5-993B1C7A5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532" y="286858"/>
            <a:ext cx="3221807" cy="32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5796-A55B-67FF-DDB7-CC29EE24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541A-BFF0-1643-86EF-C6CB75ECA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https://meshachsamuel-cis508-finalproject.streamlit.app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7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D9CD-68EF-A530-CE88-EDF7CB2B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and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62E4-B170-AB7E-5D85-97D14EBE1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Limitations:</a:t>
            </a:r>
          </a:p>
          <a:p>
            <a:r>
              <a:rPr lang="en-US" b="1" dirty="0"/>
              <a:t>Data:</a:t>
            </a:r>
          </a:p>
          <a:p>
            <a:pPr lvl="1"/>
            <a:r>
              <a:rPr lang="en-US" dirty="0"/>
              <a:t>Single City (Boston) and Short Period</a:t>
            </a:r>
          </a:p>
          <a:p>
            <a:pPr lvl="1"/>
            <a:r>
              <a:rPr lang="en-US" dirty="0"/>
              <a:t>No Traffic or Real Time Data</a:t>
            </a:r>
          </a:p>
          <a:p>
            <a:r>
              <a:rPr lang="en-US" b="1" dirty="0"/>
              <a:t>Modeling:</a:t>
            </a:r>
          </a:p>
          <a:p>
            <a:pPr lvl="1"/>
            <a:r>
              <a:rPr lang="en-US" dirty="0"/>
              <a:t>Pure Supervised Regression. No Time Series Structure</a:t>
            </a:r>
          </a:p>
          <a:p>
            <a:pPr lvl="1"/>
            <a:r>
              <a:rPr lang="en-US" dirty="0"/>
              <a:t>No Analysis by </a:t>
            </a:r>
            <a:r>
              <a:rPr lang="en-US" dirty="0" err="1"/>
              <a:t>Neighbourhood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57544D-0C41-5544-99AA-EEEA7F373DDA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Improvements:</a:t>
            </a:r>
          </a:p>
          <a:p>
            <a:r>
              <a:rPr lang="en-US" b="1" dirty="0"/>
              <a:t>Integrate Additional Features:</a:t>
            </a:r>
          </a:p>
          <a:p>
            <a:pPr lvl="1"/>
            <a:r>
              <a:rPr lang="en-US" dirty="0"/>
              <a:t>Real Time Demand</a:t>
            </a:r>
          </a:p>
          <a:p>
            <a:pPr lvl="1"/>
            <a:r>
              <a:rPr lang="en-US" dirty="0"/>
              <a:t>Traffic Conditions</a:t>
            </a:r>
          </a:p>
          <a:p>
            <a:pPr lvl="1"/>
            <a:r>
              <a:rPr lang="en-US" dirty="0"/>
              <a:t>Calendar Events</a:t>
            </a:r>
          </a:p>
          <a:p>
            <a:r>
              <a:rPr lang="en-US" dirty="0"/>
              <a:t>Extend to Multiple Cities and Compare Pricing Patterns across Cities and Locations</a:t>
            </a:r>
          </a:p>
        </p:txBody>
      </p:sp>
    </p:spTree>
    <p:extLst>
      <p:ext uri="{BB962C8B-B14F-4D97-AF65-F5344CB8AC3E}">
        <p14:creationId xmlns:p14="http://schemas.microsoft.com/office/powerpoint/2010/main" val="244800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5F75-1BD1-ED69-885B-4956F787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FA88-182F-0593-55FB-D942729DD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GitHub: </a:t>
            </a:r>
            <a:r>
              <a:rPr lang="en-US" dirty="0">
                <a:hlinkClick r:id="rId2"/>
              </a:rPr>
              <a:t>https://github.com/ProntoSbinalla/CIS-508-Final-Project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DataBricks</a:t>
            </a:r>
            <a:r>
              <a:rPr lang="en-US" b="1" dirty="0"/>
              <a:t>: </a:t>
            </a:r>
            <a:r>
              <a:rPr lang="en-US" dirty="0"/>
              <a:t>https://dbc-c0894453-af7b.cloud.databricks.com/ml/experiments/927873117134361/</a:t>
            </a:r>
            <a:r>
              <a:rPr lang="en-US" dirty="0" err="1"/>
              <a:t>runs?o</a:t>
            </a:r>
            <a:r>
              <a:rPr lang="en-US" dirty="0"/>
              <a:t>=3434810423377078&amp;searchFilter=&amp;</a:t>
            </a:r>
            <a:r>
              <a:rPr lang="en-US" dirty="0" err="1"/>
              <a:t>orderByKey</a:t>
            </a:r>
            <a:r>
              <a:rPr lang="en-US" dirty="0"/>
              <a:t>=</a:t>
            </a:r>
            <a:r>
              <a:rPr lang="en-US" dirty="0" err="1"/>
              <a:t>attributes.start_time&amp;orderByAsc</a:t>
            </a:r>
            <a:r>
              <a:rPr lang="en-US" dirty="0"/>
              <a:t>=</a:t>
            </a:r>
            <a:r>
              <a:rPr lang="en-US" dirty="0" err="1"/>
              <a:t>false&amp;startTime</a:t>
            </a:r>
            <a:r>
              <a:rPr lang="en-US" dirty="0"/>
              <a:t>=</a:t>
            </a:r>
            <a:r>
              <a:rPr lang="en-US" dirty="0" err="1"/>
              <a:t>ALL&amp;lifecycleFilter</a:t>
            </a:r>
            <a:r>
              <a:rPr lang="en-US" dirty="0"/>
              <a:t>=</a:t>
            </a:r>
            <a:r>
              <a:rPr lang="en-US" dirty="0" err="1"/>
              <a:t>Active&amp;modelVersionFilter</a:t>
            </a:r>
            <a:r>
              <a:rPr lang="en-US" dirty="0"/>
              <a:t>=</a:t>
            </a:r>
            <a:r>
              <a:rPr lang="en-US" dirty="0" err="1"/>
              <a:t>All+Runs&amp;datasetsFilter</a:t>
            </a:r>
            <a:r>
              <a:rPr lang="en-US" dirty="0"/>
              <a:t>=W10%3D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StreamLit</a:t>
            </a:r>
            <a:r>
              <a:rPr lang="en-US" b="1" dirty="0"/>
              <a:t> App: </a:t>
            </a:r>
            <a:r>
              <a:rPr lang="en-US" dirty="0">
                <a:hlinkClick r:id="rId3"/>
              </a:rPr>
              <a:t>https://meshachsamuel-cis508-finalproject.streamlit.app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13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241</TotalTime>
  <Words>670</Words>
  <Application>Microsoft Macintosh PowerPoint</Application>
  <PresentationFormat>Widescreen</PresentationFormat>
  <Paragraphs>125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Rideshare Price Prediction in Boston using Machine Learning</vt:lpstr>
      <vt:lpstr>Business Problem &amp; Stakeholders</vt:lpstr>
      <vt:lpstr>Dataset Overview</vt:lpstr>
      <vt:lpstr>Data Quality and Checks</vt:lpstr>
      <vt:lpstr>Feature Engineering</vt:lpstr>
      <vt:lpstr>Feature Selection</vt:lpstr>
      <vt:lpstr>Feature Selection</vt:lpstr>
      <vt:lpstr>Final Feature Selection List</vt:lpstr>
      <vt:lpstr>Modelling Pipeline</vt:lpstr>
      <vt:lpstr>Models: Algorithms and Tuning</vt:lpstr>
      <vt:lpstr>Model Comparison</vt:lpstr>
      <vt:lpstr>Feature Importance</vt:lpstr>
      <vt:lpstr>Error Analysis</vt:lpstr>
      <vt:lpstr>Model Deployment</vt:lpstr>
      <vt:lpstr>Limitations and Future Improvements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Meshach Samuel</dc:creator>
  <cp:lastModifiedBy>Meshach Samuel</cp:lastModifiedBy>
  <cp:revision>83</cp:revision>
  <dcterms:created xsi:type="dcterms:W3CDTF">2025-12-06T19:07:06Z</dcterms:created>
  <dcterms:modified xsi:type="dcterms:W3CDTF">2025-12-06T23:09:32Z</dcterms:modified>
</cp:coreProperties>
</file>